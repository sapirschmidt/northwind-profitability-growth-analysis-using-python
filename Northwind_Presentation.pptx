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533799" y="1941744"/>
            <a:ext cx="6860170" cy="28568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212529"/>
                </a:solidFill>
              </a:defRPr>
            </a:pP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Northwind Profitability &amp; Growth Analysis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212529"/>
                </a:solidFill>
              </a:defRPr>
            </a:pPr>
            <a:endParaRPr lang="en-US" sz="4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212529"/>
                </a:solidFill>
              </a:defRPr>
            </a:pPr>
            <a:endParaRPr lang="en-US" sz="4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67147" y="1"/>
            <a:ext cx="12024547" cy="1154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212529"/>
                </a:solidFill>
                <a:latin typeface="Arial"/>
              </a:defRPr>
            </a:pPr>
            <a:r>
              <a:rPr lang="he-IL" sz="36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מגמות הכנסות ורווח לאורך זמן</a:t>
            </a:r>
            <a:endParaRPr lang="en-US" sz="3600" kern="12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7972" y="807793"/>
            <a:ext cx="10362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הפעילות העסקית של החברה הציגה צמיחה הדרגתית ועקבית בהכנסות וברווח הגולמי עד לשיא באביב של 1998.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הצניחה החדה בפעילות נובעת ממידע חסר של הנתונים.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095F81E2-3A97-4E5F-66BF-10F0E9FE9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741" y="1483975"/>
            <a:ext cx="9225355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8885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2800" b="1">
                <a:solidFill>
                  <a:srgbClr val="212529"/>
                </a:solidFill>
                <a:latin typeface="Arial"/>
              </a:defRPr>
            </a:pP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ניתוח</a:t>
            </a:r>
            <a:r>
              <a:rPr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נפח</a:t>
            </a:r>
            <a:r>
              <a:rPr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מול</a:t>
            </a:r>
            <a:r>
              <a:rPr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מרווח</a:t>
            </a:r>
            <a:r>
              <a:rPr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במוצרים</a:t>
            </a:r>
            <a:endParaRPr sz="36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65005" y="730265"/>
            <a:ext cx="10362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defRPr sz="1600">
                <a:solidFill>
                  <a:srgbClr val="212529"/>
                </a:solidFill>
              </a:defRPr>
            </a:pPr>
            <a:r>
              <a:rPr lang="he-IL" dirty="0"/>
              <a:t>קיימת שונות גבוהה בתיק המוצרים שהחברה מוכרת, חלק מהמוצרים בעלי נפח ההכנסות הגבוה מתאפיינים במרווח גולמי נמוך.</a:t>
            </a:r>
            <a:endParaRPr dirty="0"/>
          </a:p>
          <a:p>
            <a:pPr algn="r" rtl="1">
              <a:defRPr sz="1600" b="1">
                <a:solidFill>
                  <a:srgbClr val="212529"/>
                </a:solidFill>
              </a:defRPr>
            </a:pP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החברה</a:t>
            </a:r>
            <a:r>
              <a:rPr dirty="0"/>
              <a:t> </a:t>
            </a:r>
            <a:r>
              <a:rPr lang="he-IL" dirty="0"/>
              <a:t>להתרכז במכירת במוצרים בצד השמאלי עליון של המטריצה ולזנוח את המוצרים במוצרים בצד השמאלי תחתון.</a:t>
            </a:r>
            <a:endParaRPr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A823B36D-BDB8-2237-3D15-72B6ACFC6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736" y="1686407"/>
            <a:ext cx="7423354" cy="44413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7662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212529"/>
                </a:solidFill>
                <a:latin typeface="Arial"/>
              </a:defRPr>
            </a:pP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ריכוזיות</a:t>
            </a:r>
            <a:r>
              <a:rPr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הרווח</a:t>
            </a:r>
            <a:r>
              <a:rPr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לפי</a:t>
            </a:r>
            <a:r>
              <a:rPr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עקרון</a:t>
            </a:r>
            <a:r>
              <a:rPr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פארטו</a:t>
            </a:r>
            <a:endParaRPr sz="36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600">
                <a:solidFill>
                  <a:srgbClr val="6C757D"/>
                </a:solidFill>
                <a:latin typeface="Arial"/>
              </a:defRPr>
            </a:pPr>
            <a:r>
              <a:t>ניתוח תרומת המוצרים לרווח המצטבר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8B9A6E"/>
                </a:solidFill>
              </a:defRPr>
            </a:pPr>
            <a:r>
              <a:rPr dirty="0" err="1"/>
              <a:t>תובנה</a:t>
            </a:r>
            <a:r>
              <a:rPr dirty="0"/>
              <a:t> </a:t>
            </a:r>
            <a:r>
              <a:rPr dirty="0" err="1"/>
              <a:t>אנליטית</a:t>
            </a:r>
            <a:r>
              <a:rPr dirty="0"/>
              <a:t>:</a:t>
            </a:r>
          </a:p>
          <a:p>
            <a:pPr algn="r">
              <a:defRPr sz="1600">
                <a:solidFill>
                  <a:srgbClr val="212529"/>
                </a:solidFill>
              </a:defRPr>
            </a:pPr>
            <a:r>
              <a:rPr dirty="0" err="1"/>
              <a:t>עקומת</a:t>
            </a:r>
            <a:r>
              <a:rPr dirty="0"/>
              <a:t> </a:t>
            </a:r>
            <a:r>
              <a:rPr dirty="0" err="1"/>
              <a:t>הפארטו</a:t>
            </a:r>
            <a:r>
              <a:rPr dirty="0"/>
              <a:t> </a:t>
            </a:r>
            <a:r>
              <a:rPr dirty="0" err="1"/>
              <a:t>מוכיחה</a:t>
            </a:r>
            <a:r>
              <a:rPr dirty="0"/>
              <a:t> </a:t>
            </a:r>
            <a:r>
              <a:rPr dirty="0" err="1"/>
              <a:t>כי</a:t>
            </a:r>
            <a:r>
              <a:rPr dirty="0"/>
              <a:t> </a:t>
            </a:r>
            <a:r>
              <a:rPr dirty="0" err="1"/>
              <a:t>מרבית</a:t>
            </a:r>
            <a:r>
              <a:rPr dirty="0"/>
              <a:t> </a:t>
            </a:r>
            <a:r>
              <a:rPr dirty="0" err="1"/>
              <a:t>הרווח</a:t>
            </a:r>
            <a:r>
              <a:rPr dirty="0"/>
              <a:t> </a:t>
            </a:r>
            <a:r>
              <a:rPr dirty="0" err="1"/>
              <a:t>המצטבר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החברה</a:t>
            </a:r>
            <a:r>
              <a:rPr dirty="0"/>
              <a:t> </a:t>
            </a:r>
            <a:r>
              <a:rPr dirty="0" err="1"/>
              <a:t>מרוכז</a:t>
            </a:r>
            <a:r>
              <a:rPr dirty="0"/>
              <a:t> </a:t>
            </a:r>
            <a:r>
              <a:rPr dirty="0" err="1"/>
              <a:t>בחלק</a:t>
            </a:r>
            <a:r>
              <a:rPr dirty="0"/>
              <a:t> </a:t>
            </a:r>
            <a:r>
              <a:rPr dirty="0" err="1"/>
              <a:t>קטן</a:t>
            </a:r>
            <a:r>
              <a:rPr dirty="0"/>
              <a:t> </a:t>
            </a:r>
            <a:r>
              <a:rPr dirty="0" err="1"/>
              <a:t>יחסית</a:t>
            </a:r>
            <a:r>
              <a:rPr dirty="0"/>
              <a:t> </a:t>
            </a:r>
            <a:r>
              <a:rPr dirty="0" err="1"/>
              <a:t>מתוך</a:t>
            </a:r>
            <a:r>
              <a:rPr dirty="0"/>
              <a:t> </a:t>
            </a:r>
            <a:r>
              <a:rPr dirty="0" err="1"/>
              <a:t>סך</a:t>
            </a:r>
            <a:r>
              <a:rPr dirty="0"/>
              <a:t> </a:t>
            </a:r>
            <a:r>
              <a:rPr dirty="0" err="1"/>
              <a:t>המוצרים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>
              <a:defRPr sz="1800" b="1">
                <a:solidFill>
                  <a:srgbClr val="8B9A6E"/>
                </a:solidFill>
              </a:defRPr>
            </a:pPr>
            <a:r>
              <a:rPr dirty="0" err="1"/>
              <a:t>המלצה</a:t>
            </a:r>
            <a:r>
              <a:rPr dirty="0"/>
              <a:t> </a:t>
            </a:r>
            <a:r>
              <a:rPr dirty="0" err="1"/>
              <a:t>לפעולה</a:t>
            </a:r>
            <a:r>
              <a:rPr dirty="0"/>
              <a:t> (</a:t>
            </a:r>
            <a:r>
              <a:rPr dirty="0" err="1"/>
              <a:t>מה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החברה</a:t>
            </a:r>
            <a:r>
              <a:rPr dirty="0"/>
              <a:t> </a:t>
            </a:r>
            <a:r>
              <a:rPr dirty="0" err="1"/>
              <a:t>לעשות</a:t>
            </a:r>
            <a:r>
              <a:rPr dirty="0"/>
              <a:t> </a:t>
            </a:r>
            <a:r>
              <a:rPr dirty="0" err="1"/>
              <a:t>הלאה</a:t>
            </a:r>
            <a:r>
              <a:rPr dirty="0"/>
              <a:t>):</a:t>
            </a:r>
          </a:p>
          <a:p>
            <a:pPr algn="r">
              <a:defRPr sz="1600" b="1">
                <a:solidFill>
                  <a:srgbClr val="212529"/>
                </a:solidFill>
              </a:defRPr>
            </a:pP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החברה</a:t>
            </a:r>
            <a:r>
              <a:rPr dirty="0"/>
              <a:t> </a:t>
            </a:r>
            <a:r>
              <a:rPr dirty="0" err="1"/>
              <a:t>למקד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מאמצי</a:t>
            </a:r>
            <a:r>
              <a:rPr dirty="0"/>
              <a:t> </a:t>
            </a:r>
            <a:r>
              <a:rPr dirty="0" err="1"/>
              <a:t>השיווק</a:t>
            </a:r>
            <a:r>
              <a:rPr dirty="0"/>
              <a:t>, </a:t>
            </a:r>
            <a:r>
              <a:rPr dirty="0" err="1"/>
              <a:t>ניהול</a:t>
            </a:r>
            <a:r>
              <a:rPr dirty="0"/>
              <a:t> </a:t>
            </a:r>
            <a:r>
              <a:rPr dirty="0" err="1"/>
              <a:t>המלאי</a:t>
            </a:r>
            <a:r>
              <a:rPr dirty="0"/>
              <a:t> </a:t>
            </a:r>
            <a:r>
              <a:rPr dirty="0" err="1"/>
              <a:t>ותקציבי</a:t>
            </a:r>
            <a:r>
              <a:rPr dirty="0"/>
              <a:t> </a:t>
            </a:r>
            <a:r>
              <a:rPr dirty="0" err="1"/>
              <a:t>המכירות</a:t>
            </a:r>
            <a:r>
              <a:rPr dirty="0"/>
              <a:t> </a:t>
            </a:r>
            <a:r>
              <a:rPr dirty="0" err="1"/>
              <a:t>במוצרי</a:t>
            </a:r>
            <a:r>
              <a:rPr dirty="0"/>
              <a:t> </a:t>
            </a:r>
            <a:r>
              <a:rPr dirty="0" err="1"/>
              <a:t>הליבה</a:t>
            </a:r>
            <a:r>
              <a:rPr dirty="0"/>
              <a:t> </a:t>
            </a:r>
            <a:r>
              <a:rPr dirty="0" err="1"/>
              <a:t>התורמים</a:t>
            </a:r>
            <a:r>
              <a:rPr dirty="0"/>
              <a:t> </a:t>
            </a:r>
            <a:r>
              <a:rPr dirty="0" err="1"/>
              <a:t>באופן</a:t>
            </a:r>
            <a:r>
              <a:rPr dirty="0"/>
              <a:t> </a:t>
            </a:r>
            <a:r>
              <a:rPr dirty="0" err="1"/>
              <a:t>משמעותי</a:t>
            </a:r>
            <a:r>
              <a:rPr dirty="0"/>
              <a:t> </a:t>
            </a:r>
            <a:r>
              <a:rPr dirty="0" err="1"/>
              <a:t>לרווח</a:t>
            </a:r>
            <a:r>
              <a:rPr dirty="0"/>
              <a:t> </a:t>
            </a:r>
            <a:r>
              <a:rPr dirty="0" err="1"/>
              <a:t>המצטבר</a:t>
            </a:r>
            <a:r>
              <a:rPr dirty="0"/>
              <a:t>.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1373B8EE-8080-827A-BCD7-3736C38B7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02" y="1235977"/>
            <a:ext cx="49911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78426" y="145106"/>
            <a:ext cx="12260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212529"/>
                </a:solidFill>
                <a:latin typeface="Arial"/>
              </a:defRPr>
            </a:pPr>
            <a:r>
              <a:rPr lang="he-IL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פילוח</a:t>
            </a:r>
            <a:r>
              <a:rPr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לקוחות</a:t>
            </a:r>
            <a:r>
              <a:rPr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והתפלגות</a:t>
            </a:r>
            <a:r>
              <a:rPr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ערך</a:t>
            </a:r>
            <a:r>
              <a:rPr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(RFM)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877" y="986834"/>
            <a:ext cx="10362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600">
                <a:solidFill>
                  <a:srgbClr val="6C757D"/>
                </a:solidFill>
                <a:latin typeface="Arial"/>
              </a:defRPr>
            </a:pPr>
            <a:r>
              <a:t>מיפוי לקוחות לפי ערך ונאמנות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877" y="1520785"/>
            <a:ext cx="10362895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800" b="1">
                <a:solidFill>
                  <a:srgbClr val="8B9A6E"/>
                </a:solidFill>
              </a:defRPr>
            </a:pPr>
            <a:r>
              <a:rPr dirty="0" err="1"/>
              <a:t>תובנה</a:t>
            </a:r>
            <a:r>
              <a:rPr dirty="0"/>
              <a:t> </a:t>
            </a:r>
            <a:r>
              <a:rPr dirty="0" err="1"/>
              <a:t>אנליטית</a:t>
            </a:r>
            <a:r>
              <a:rPr dirty="0"/>
              <a:t>:</a:t>
            </a:r>
          </a:p>
          <a:p>
            <a:pPr algn="r" rtl="1">
              <a:defRPr sz="1600">
                <a:solidFill>
                  <a:srgbClr val="212529"/>
                </a:solidFill>
              </a:defRPr>
            </a:pPr>
            <a:r>
              <a:rPr dirty="0" err="1"/>
              <a:t>סגמנט</a:t>
            </a:r>
            <a:r>
              <a:rPr dirty="0"/>
              <a:t> ה-Champions </a:t>
            </a:r>
            <a:r>
              <a:rPr dirty="0" err="1"/>
              <a:t>מייצר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נפח</a:t>
            </a:r>
            <a:r>
              <a:rPr dirty="0"/>
              <a:t> </a:t>
            </a:r>
            <a:r>
              <a:rPr dirty="0" err="1"/>
              <a:t>ההכנסות</a:t>
            </a:r>
            <a:r>
              <a:rPr dirty="0"/>
              <a:t> </a:t>
            </a:r>
            <a:r>
              <a:rPr dirty="0" err="1"/>
              <a:t>והרווחים</a:t>
            </a:r>
            <a:r>
              <a:rPr dirty="0"/>
              <a:t> </a:t>
            </a:r>
            <a:r>
              <a:rPr dirty="0" err="1"/>
              <a:t>הגבוה</a:t>
            </a:r>
            <a:r>
              <a:rPr dirty="0"/>
              <a:t> </a:t>
            </a:r>
            <a:r>
              <a:rPr dirty="0" err="1"/>
              <a:t>ביותר</a:t>
            </a:r>
            <a:r>
              <a:rPr dirty="0"/>
              <a:t> </a:t>
            </a:r>
            <a:r>
              <a:rPr dirty="0" err="1"/>
              <a:t>בפער</a:t>
            </a:r>
            <a:r>
              <a:rPr dirty="0"/>
              <a:t> </a:t>
            </a:r>
            <a:r>
              <a:rPr dirty="0" err="1"/>
              <a:t>ניכר</a:t>
            </a:r>
            <a:r>
              <a:rPr dirty="0"/>
              <a:t>, </a:t>
            </a:r>
            <a:r>
              <a:rPr dirty="0" err="1"/>
              <a:t>בעוד</a:t>
            </a:r>
            <a:r>
              <a:rPr dirty="0"/>
              <a:t> </a:t>
            </a:r>
            <a:r>
              <a:rPr dirty="0" err="1"/>
              <a:t>סגמנט</a:t>
            </a:r>
            <a:r>
              <a:rPr dirty="0"/>
              <a:t> ה-Potential Loyalists </a:t>
            </a:r>
            <a:r>
              <a:rPr dirty="0" err="1"/>
              <a:t>מכיל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כמות</a:t>
            </a:r>
            <a:r>
              <a:rPr dirty="0"/>
              <a:t> </a:t>
            </a:r>
            <a:r>
              <a:rPr dirty="0" err="1"/>
              <a:t>הלקוחות</a:t>
            </a:r>
            <a:r>
              <a:rPr dirty="0"/>
              <a:t> </a:t>
            </a:r>
            <a:r>
              <a:rPr dirty="0" err="1"/>
              <a:t>הגדולה</a:t>
            </a:r>
            <a:r>
              <a:rPr dirty="0"/>
              <a:t> </a:t>
            </a:r>
            <a:r>
              <a:rPr dirty="0" err="1"/>
              <a:t>ביותר</a:t>
            </a:r>
            <a:r>
              <a:rPr dirty="0"/>
              <a:t> </a:t>
            </a:r>
            <a:r>
              <a:rPr dirty="0" err="1"/>
              <a:t>אך</a:t>
            </a:r>
            <a:r>
              <a:rPr dirty="0"/>
              <a:t> </a:t>
            </a:r>
            <a:r>
              <a:rPr dirty="0" err="1"/>
              <a:t>תורם</a:t>
            </a:r>
            <a:r>
              <a:rPr dirty="0"/>
              <a:t> </a:t>
            </a:r>
            <a:r>
              <a:rPr dirty="0" err="1"/>
              <a:t>פחות</a:t>
            </a:r>
            <a:r>
              <a:rPr dirty="0"/>
              <a:t> </a:t>
            </a:r>
            <a:r>
              <a:rPr dirty="0" err="1"/>
              <a:t>לרווח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>
              <a:defRPr sz="1800" b="1">
                <a:solidFill>
                  <a:srgbClr val="8B9A6E"/>
                </a:solidFill>
              </a:defRPr>
            </a:pPr>
            <a:r>
              <a:rPr dirty="0" err="1"/>
              <a:t>המלצה</a:t>
            </a:r>
            <a:r>
              <a:rPr dirty="0"/>
              <a:t> </a:t>
            </a:r>
            <a:r>
              <a:rPr dirty="0" err="1"/>
              <a:t>לפעולה</a:t>
            </a:r>
            <a:r>
              <a:rPr dirty="0"/>
              <a:t> (</a:t>
            </a:r>
            <a:r>
              <a:rPr dirty="0" err="1"/>
              <a:t>מה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החברה</a:t>
            </a:r>
            <a:r>
              <a:rPr dirty="0"/>
              <a:t> </a:t>
            </a:r>
            <a:r>
              <a:rPr dirty="0" err="1"/>
              <a:t>לעשות</a:t>
            </a:r>
            <a:r>
              <a:rPr dirty="0"/>
              <a:t> </a:t>
            </a:r>
            <a:r>
              <a:rPr dirty="0" err="1"/>
              <a:t>הלאה</a:t>
            </a:r>
            <a:r>
              <a:rPr dirty="0"/>
              <a:t>):</a:t>
            </a:r>
          </a:p>
          <a:p>
            <a:pPr algn="r" rtl="1">
              <a:defRPr sz="1600" b="1">
                <a:solidFill>
                  <a:srgbClr val="212529"/>
                </a:solidFill>
              </a:defRPr>
            </a:pP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החברה</a:t>
            </a:r>
            <a:r>
              <a:rPr dirty="0"/>
              <a:t> </a:t>
            </a:r>
            <a:r>
              <a:rPr dirty="0" err="1"/>
              <a:t>להשקיע</a:t>
            </a:r>
            <a:r>
              <a:rPr dirty="0"/>
              <a:t> </a:t>
            </a:r>
            <a:r>
              <a:rPr dirty="0" err="1"/>
              <a:t>בשימור</a:t>
            </a:r>
            <a:r>
              <a:rPr dirty="0"/>
              <a:t> </a:t>
            </a:r>
            <a:r>
              <a:rPr dirty="0" err="1"/>
              <a:t>לקוחות</a:t>
            </a:r>
            <a:r>
              <a:rPr dirty="0"/>
              <a:t> ה-Champions </a:t>
            </a:r>
            <a:r>
              <a:rPr dirty="0" err="1"/>
              <a:t>הקיימים</a:t>
            </a:r>
            <a:r>
              <a:rPr dirty="0"/>
              <a:t> </a:t>
            </a:r>
            <a:r>
              <a:rPr dirty="0" err="1"/>
              <a:t>לצד</a:t>
            </a:r>
            <a:r>
              <a:rPr dirty="0"/>
              <a:t> </a:t>
            </a:r>
            <a:r>
              <a:rPr dirty="0" err="1"/>
              <a:t>יצירת</a:t>
            </a:r>
            <a:r>
              <a:rPr dirty="0"/>
              <a:t> </a:t>
            </a:r>
            <a:r>
              <a:rPr dirty="0" err="1"/>
              <a:t>תוכניות</a:t>
            </a:r>
            <a:r>
              <a:rPr dirty="0"/>
              <a:t> </a:t>
            </a:r>
            <a:r>
              <a:rPr dirty="0" err="1"/>
              <a:t>השקעה</a:t>
            </a:r>
            <a:r>
              <a:rPr dirty="0"/>
              <a:t> </a:t>
            </a:r>
            <a:r>
              <a:rPr dirty="0" err="1"/>
              <a:t>שיווקיות</a:t>
            </a:r>
            <a:r>
              <a:rPr dirty="0"/>
              <a:t> </a:t>
            </a:r>
            <a:r>
              <a:rPr dirty="0" err="1"/>
              <a:t>לקידום</a:t>
            </a:r>
            <a:r>
              <a:rPr dirty="0"/>
              <a:t> </a:t>
            </a:r>
            <a:r>
              <a:rPr dirty="0" err="1"/>
              <a:t>לקוחות</a:t>
            </a:r>
            <a:r>
              <a:rPr dirty="0"/>
              <a:t> ה-Potential Loyalists </a:t>
            </a:r>
            <a:r>
              <a:rPr dirty="0" err="1"/>
              <a:t>לשלבי</a:t>
            </a:r>
            <a:r>
              <a:rPr dirty="0"/>
              <a:t> </a:t>
            </a:r>
            <a:r>
              <a:rPr dirty="0" err="1"/>
              <a:t>נאמנות</a:t>
            </a:r>
            <a:r>
              <a:rPr dirty="0"/>
              <a:t> </a:t>
            </a:r>
            <a:r>
              <a:rPr dirty="0" err="1"/>
              <a:t>גבוהים</a:t>
            </a:r>
            <a:r>
              <a:rPr dirty="0"/>
              <a:t> </a:t>
            </a:r>
            <a:r>
              <a:rPr dirty="0" err="1"/>
              <a:t>יותר</a:t>
            </a:r>
            <a:r>
              <a:rPr dirty="0"/>
              <a:t>.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175B7D82-AECE-9489-66D4-9D7FBE80B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24" y="2200275"/>
            <a:ext cx="4991100" cy="4286250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D7E6EA86-340A-2281-C1C7-80CB4862E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883" y="1875811"/>
            <a:ext cx="49911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119602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212529"/>
                </a:solidFill>
                <a:latin typeface="Arial"/>
              </a:defRPr>
            </a:pP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השפעת</a:t>
            </a:r>
            <a:r>
              <a:rPr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מדיניות</a:t>
            </a:r>
            <a:r>
              <a:rPr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ההנחות</a:t>
            </a:r>
            <a:endParaRPr sz="36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C757D"/>
                </a:solidFill>
                <a:latin typeface="Arial"/>
              </a:defRPr>
            </a:pPr>
            <a:r>
              <a:t>בחינת הקשר בין גובה ההנחה למרווח הגולמי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800" b="1">
                <a:solidFill>
                  <a:srgbClr val="8B9A6E"/>
                </a:solidFill>
              </a:defRPr>
            </a:pPr>
            <a:r>
              <a:rPr dirty="0" err="1"/>
              <a:t>תובנה</a:t>
            </a:r>
            <a:r>
              <a:rPr dirty="0"/>
              <a:t> </a:t>
            </a:r>
            <a:r>
              <a:rPr dirty="0" err="1"/>
              <a:t>אנליטית</a:t>
            </a:r>
            <a:r>
              <a:rPr dirty="0"/>
              <a:t>:</a:t>
            </a:r>
          </a:p>
          <a:p>
            <a:pPr algn="r" rtl="1">
              <a:defRPr sz="1600">
                <a:solidFill>
                  <a:srgbClr val="212529"/>
                </a:solidFill>
              </a:defRPr>
            </a:pPr>
            <a:r>
              <a:rPr dirty="0" err="1"/>
              <a:t>מרבית</a:t>
            </a:r>
            <a:r>
              <a:rPr dirty="0"/>
              <a:t> </a:t>
            </a:r>
            <a:r>
              <a:rPr dirty="0" err="1"/>
              <a:t>ההכנסות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החברה</a:t>
            </a:r>
            <a:r>
              <a:rPr dirty="0"/>
              <a:t> </a:t>
            </a:r>
            <a:r>
              <a:rPr dirty="0" err="1"/>
              <a:t>מגיעות</a:t>
            </a:r>
            <a:r>
              <a:rPr dirty="0"/>
              <a:t> </a:t>
            </a:r>
            <a:r>
              <a:rPr dirty="0" err="1"/>
              <a:t>ממכירות</a:t>
            </a:r>
            <a:r>
              <a:rPr dirty="0"/>
              <a:t> </a:t>
            </a:r>
            <a:r>
              <a:rPr dirty="0" err="1"/>
              <a:t>ללא</a:t>
            </a:r>
            <a:r>
              <a:rPr dirty="0"/>
              <a:t> </a:t>
            </a:r>
            <a:r>
              <a:rPr dirty="0" err="1"/>
              <a:t>הנחה</a:t>
            </a:r>
            <a:r>
              <a:rPr dirty="0"/>
              <a:t> (0%), </a:t>
            </a:r>
            <a:r>
              <a:rPr dirty="0" err="1"/>
              <a:t>וככל</a:t>
            </a:r>
            <a:r>
              <a:rPr dirty="0"/>
              <a:t> </a:t>
            </a:r>
            <a:r>
              <a:rPr dirty="0" err="1"/>
              <a:t>שגודל</a:t>
            </a:r>
            <a:r>
              <a:rPr dirty="0"/>
              <a:t> </a:t>
            </a:r>
            <a:r>
              <a:rPr dirty="0" err="1"/>
              <a:t>ההנחה</a:t>
            </a:r>
            <a:r>
              <a:rPr dirty="0"/>
              <a:t> </a:t>
            </a:r>
            <a:r>
              <a:rPr dirty="0" err="1"/>
              <a:t>עולה</a:t>
            </a:r>
            <a:r>
              <a:rPr dirty="0"/>
              <a:t> (</a:t>
            </a:r>
            <a:r>
              <a:rPr dirty="0" err="1"/>
              <a:t>במיוחד</a:t>
            </a:r>
            <a:r>
              <a:rPr dirty="0"/>
              <a:t> </a:t>
            </a:r>
            <a:r>
              <a:rPr dirty="0" err="1"/>
              <a:t>מעל</a:t>
            </a:r>
            <a:r>
              <a:rPr dirty="0"/>
              <a:t> 10% ו-20%+), </a:t>
            </a:r>
            <a:r>
              <a:rPr dirty="0" err="1"/>
              <a:t>המרווח</a:t>
            </a:r>
            <a:r>
              <a:rPr dirty="0"/>
              <a:t> </a:t>
            </a:r>
            <a:r>
              <a:rPr dirty="0" err="1"/>
              <a:t>הגולמי</a:t>
            </a:r>
            <a:r>
              <a:rPr dirty="0"/>
              <a:t> </a:t>
            </a:r>
            <a:r>
              <a:rPr dirty="0" err="1"/>
              <a:t>נשחק</a:t>
            </a:r>
            <a:r>
              <a:rPr dirty="0"/>
              <a:t> </a:t>
            </a:r>
            <a:r>
              <a:rPr dirty="0" err="1"/>
              <a:t>באופן</a:t>
            </a:r>
            <a:r>
              <a:rPr dirty="0"/>
              <a:t> </a:t>
            </a:r>
            <a:r>
              <a:rPr dirty="0" err="1"/>
              <a:t>דרסטי</a:t>
            </a:r>
            <a:r>
              <a:rPr dirty="0"/>
              <a:t> </a:t>
            </a:r>
            <a:r>
              <a:rPr dirty="0" err="1"/>
              <a:t>ויורד</a:t>
            </a:r>
            <a:r>
              <a:rPr dirty="0"/>
              <a:t> </a:t>
            </a:r>
            <a:r>
              <a:rPr dirty="0" err="1"/>
              <a:t>מתחת</a:t>
            </a:r>
            <a:r>
              <a:rPr dirty="0"/>
              <a:t> ל-30%.</a:t>
            </a:r>
          </a:p>
          <a:p>
            <a:pPr algn="r" rtl="1"/>
            <a:endParaRPr dirty="0"/>
          </a:p>
          <a:p>
            <a:pPr algn="r" rtl="1">
              <a:defRPr sz="1800" b="1">
                <a:solidFill>
                  <a:srgbClr val="8B9A6E"/>
                </a:solidFill>
              </a:defRPr>
            </a:pPr>
            <a:r>
              <a:rPr dirty="0" err="1"/>
              <a:t>המלצה</a:t>
            </a:r>
            <a:r>
              <a:rPr dirty="0"/>
              <a:t> </a:t>
            </a:r>
            <a:r>
              <a:rPr dirty="0" err="1"/>
              <a:t>לפעולה</a:t>
            </a:r>
            <a:r>
              <a:rPr dirty="0"/>
              <a:t> (</a:t>
            </a:r>
            <a:r>
              <a:rPr dirty="0" err="1"/>
              <a:t>מה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החברה</a:t>
            </a:r>
            <a:r>
              <a:rPr dirty="0"/>
              <a:t> </a:t>
            </a:r>
            <a:r>
              <a:rPr dirty="0" err="1"/>
              <a:t>לעשות</a:t>
            </a:r>
            <a:r>
              <a:rPr dirty="0"/>
              <a:t> </a:t>
            </a:r>
            <a:r>
              <a:rPr dirty="0" err="1"/>
              <a:t>הלאה</a:t>
            </a:r>
            <a:r>
              <a:rPr dirty="0"/>
              <a:t>):</a:t>
            </a:r>
          </a:p>
          <a:p>
            <a:pPr algn="r" rtl="1">
              <a:defRPr sz="1600" b="1">
                <a:solidFill>
                  <a:srgbClr val="212529"/>
                </a:solidFill>
              </a:defRPr>
            </a:pP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החברה</a:t>
            </a:r>
            <a:r>
              <a:rPr dirty="0"/>
              <a:t> </a:t>
            </a:r>
            <a:r>
              <a:rPr dirty="0" err="1"/>
              <a:t>לאסור</a:t>
            </a:r>
            <a:r>
              <a:rPr dirty="0"/>
              <a:t> </a:t>
            </a:r>
            <a:r>
              <a:rPr dirty="0" err="1"/>
              <a:t>או</a:t>
            </a:r>
            <a:r>
              <a:rPr dirty="0"/>
              <a:t> </a:t>
            </a:r>
            <a:r>
              <a:rPr dirty="0" err="1"/>
              <a:t>להגביל</a:t>
            </a:r>
            <a:r>
              <a:rPr dirty="0"/>
              <a:t> </a:t>
            </a:r>
            <a:r>
              <a:rPr dirty="0" err="1"/>
              <a:t>באופן</a:t>
            </a:r>
            <a:r>
              <a:rPr dirty="0"/>
              <a:t> </a:t>
            </a:r>
            <a:r>
              <a:rPr dirty="0" err="1"/>
              <a:t>נוקשה</a:t>
            </a:r>
            <a:r>
              <a:rPr dirty="0"/>
              <a:t> </a:t>
            </a:r>
            <a:r>
              <a:rPr dirty="0" err="1"/>
              <a:t>מתן</a:t>
            </a:r>
            <a:r>
              <a:rPr dirty="0"/>
              <a:t> </a:t>
            </a:r>
            <a:r>
              <a:rPr dirty="0" err="1"/>
              <a:t>הנחות</a:t>
            </a:r>
            <a:r>
              <a:rPr dirty="0"/>
              <a:t> </a:t>
            </a:r>
            <a:r>
              <a:rPr dirty="0" err="1"/>
              <a:t>העולות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10% </a:t>
            </a:r>
            <a:r>
              <a:rPr dirty="0" err="1"/>
              <a:t>כדי</a:t>
            </a:r>
            <a:r>
              <a:rPr dirty="0"/>
              <a:t> </a:t>
            </a:r>
            <a:r>
              <a:rPr dirty="0" err="1"/>
              <a:t>למנוע</a:t>
            </a:r>
            <a:r>
              <a:rPr dirty="0"/>
              <a:t> </a:t>
            </a:r>
            <a:r>
              <a:rPr dirty="0" err="1"/>
              <a:t>שחיקה</a:t>
            </a:r>
            <a:r>
              <a:rPr dirty="0"/>
              <a:t> </a:t>
            </a:r>
            <a:r>
              <a:rPr dirty="0" err="1"/>
              <a:t>חמורה</a:t>
            </a:r>
            <a:r>
              <a:rPr dirty="0"/>
              <a:t> </a:t>
            </a:r>
            <a:r>
              <a:rPr dirty="0" err="1"/>
              <a:t>במרווח</a:t>
            </a:r>
            <a:r>
              <a:rPr dirty="0"/>
              <a:t> </a:t>
            </a:r>
            <a:r>
              <a:rPr dirty="0" err="1"/>
              <a:t>הגולמי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lang="he-IL" dirty="0"/>
              <a:t>ש</a:t>
            </a:r>
            <a:r>
              <a:rPr dirty="0"/>
              <a:t>.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7D5BBCA9-CF33-AF2E-179C-C0EFE76E3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1285875"/>
            <a:ext cx="4991100" cy="4286250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26E5D46C-8765-3AFF-D2CF-AE38D4D03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0" y="1438275"/>
            <a:ext cx="4991100" cy="4286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284</Words>
  <Application>Microsoft Office PowerPoint</Application>
  <PresentationFormat>מסך רחב</PresentationFormat>
  <Paragraphs>27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לילך שורק</cp:lastModifiedBy>
  <cp:revision>2</cp:revision>
  <dcterms:created xsi:type="dcterms:W3CDTF">2013-01-27T09:14:16Z</dcterms:created>
  <dcterms:modified xsi:type="dcterms:W3CDTF">2026-09-16T18:58:27Z</dcterms:modified>
  <cp:category/>
</cp:coreProperties>
</file>